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658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25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E3A4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E3A4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8A2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938174"/>
            <a:ext cx="592531" cy="592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ASTANA AI WEEK · ХАКАТОН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MineGuard Twin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</a:t>
            </a:r>
            <a:r>
              <a:rPr lang="ru-RU" sz="2000" dirty="0">
                <a:solidFill>
                  <a:srgbClr val="C7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водителя и ц</a:t>
            </a:r>
            <a:r>
              <a:rPr lang="en-US" sz="2000" dirty="0">
                <a:solidFill>
                  <a:srgbClr val="C7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ифровой двойник открытого карьера с AI-диспетчером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Симуляция логистики</a:t>
            </a: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Компьютерное зрение</a:t>
            </a: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LLM-агент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карьеру нужен цифровой двойник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3F5F6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640080" cy="64008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" y="2073859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 диспетчирование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35000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принимаются интуитивно, без данных о рисках и загрузке в реальном времени.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3F5F6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84248"/>
            <a:ext cx="640080" cy="64008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851" y="2073859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Микросон водителя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0" y="235000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из ключевых причин аварий на карьерной технике — трудно заметить вовремя вручную.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3F5F6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70248"/>
            <a:ext cx="640080" cy="64008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" y="4359859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33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Нестабильность борта карьера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63600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Трещины и оползни чаще всего обнаруживаются постфактум, уже после инцидента.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3F5F6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70248"/>
            <a:ext cx="640080" cy="64008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851" y="4359859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33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Перерасход топлива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5200" y="463600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прозрачного расчёта энергозатрат по маршрутам, чтобы их оптимизировать.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слоя — одна платформа диспетчера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4343400"/>
          </a:xfrm>
          <a:prstGeom prst="roundRect">
            <a:avLst>
              <a:gd name="adj" fmla="val 2807"/>
            </a:avLst>
          </a:prstGeom>
          <a:solidFill>
            <a:srgbClr val="1C2530"/>
          </a:solidFill>
          <a:ln/>
        </p:spPr>
      </p:sp>
      <p:sp>
        <p:nvSpPr>
          <p:cNvPr id="5" name="Shape 3"/>
          <p:cNvSpPr/>
          <p:nvPr/>
        </p:nvSpPr>
        <p:spPr>
          <a:xfrm>
            <a:off x="1394460" y="2377440"/>
            <a:ext cx="914400" cy="914400"/>
          </a:xfrm>
          <a:prstGeom prst="ellipse">
            <a:avLst/>
          </a:prstGeom>
          <a:solidFill>
            <a:srgbClr val="E8A2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76" y="2505456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566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Симуляция логистики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" y="4297680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OpenMines / SimPy прогоняет движение техники, считает топливо и риски по физическим формулам.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10712" y="1874520"/>
            <a:ext cx="2606040" cy="4343400"/>
          </a:xfrm>
          <a:prstGeom prst="roundRect">
            <a:avLst>
              <a:gd name="adj" fmla="val 2807"/>
            </a:avLst>
          </a:prstGeom>
          <a:solidFill>
            <a:srgbClr val="1C2530"/>
          </a:solidFill>
          <a:ln/>
        </p:spPr>
      </p:sp>
      <p:sp>
        <p:nvSpPr>
          <p:cNvPr id="10" name="Shape 7"/>
          <p:cNvSpPr/>
          <p:nvPr/>
        </p:nvSpPr>
        <p:spPr>
          <a:xfrm>
            <a:off x="4256532" y="2377440"/>
            <a:ext cx="914400" cy="914400"/>
          </a:xfrm>
          <a:prstGeom prst="ellipse">
            <a:avLst/>
          </a:prstGeom>
          <a:solidFill>
            <a:srgbClr val="E8A23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548" y="2505456"/>
            <a:ext cx="658368" cy="658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566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безопасности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66744" y="4297680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устойчивости борта карьера и состояния водителя по видеопотоку в реальном времени.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72784" y="1874520"/>
            <a:ext cx="2606040" cy="4343400"/>
          </a:xfrm>
          <a:prstGeom prst="roundRect">
            <a:avLst>
              <a:gd name="adj" fmla="val 2807"/>
            </a:avLst>
          </a:prstGeom>
          <a:solidFill>
            <a:srgbClr val="1C253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18604" y="2377440"/>
            <a:ext cx="914400" cy="914400"/>
          </a:xfrm>
          <a:prstGeom prst="ellipse">
            <a:avLst/>
          </a:prstGeom>
          <a:solidFill>
            <a:srgbClr val="E8A2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2505456"/>
            <a:ext cx="658368" cy="6583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3566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AI-диспетчер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28816" y="4297680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LLM-агент отвечает на вопросы диспетчера и предлагает действия — решение остаётся за человеком.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34856" y="1874520"/>
            <a:ext cx="2606040" cy="4343400"/>
          </a:xfrm>
          <a:prstGeom prst="roundRect">
            <a:avLst>
              <a:gd name="adj" fmla="val 2807"/>
            </a:avLst>
          </a:prstGeom>
          <a:solidFill>
            <a:srgbClr val="1C2530"/>
          </a:solidFill>
          <a:ln/>
        </p:spPr>
      </p:sp>
      <p:sp>
        <p:nvSpPr>
          <p:cNvPr id="20" name="Shape 15"/>
          <p:cNvSpPr/>
          <p:nvPr/>
        </p:nvSpPr>
        <p:spPr>
          <a:xfrm>
            <a:off x="9980676" y="2377440"/>
            <a:ext cx="914400" cy="914400"/>
          </a:xfrm>
          <a:prstGeom prst="ellipse">
            <a:avLst/>
          </a:prstGeom>
          <a:solidFill>
            <a:srgbClr val="E8A23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8692" y="2505456"/>
            <a:ext cx="658368" cy="6583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36024" y="3566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SCADA-консоль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390888" y="4297680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интерфейс: карта карьера, события, KPI и чат с агентом в реальном времени.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состояние сходится в единой базе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84168" y="1645920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1C2530"/>
          </a:solidFill>
          <a:ln/>
        </p:spPr>
      </p:sp>
      <p:sp>
        <p:nvSpPr>
          <p:cNvPr id="5" name="Text 3"/>
          <p:cNvSpPr/>
          <p:nvPr/>
        </p:nvSpPr>
        <p:spPr>
          <a:xfrm>
            <a:off x="4084168" y="1645920"/>
            <a:ext cx="40233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 (3000)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SCADA-консоль диспетчера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67248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79"/>
                </a:solidFill>
              </a:rPr>
              <a:t>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24448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B79"/>
                </a:solidFill>
              </a:rPr>
              <a:t>REST, поллинг 0.5–2с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84168" y="2578608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E8A23B"/>
          </a:solidFill>
          <a:ln/>
        </p:spPr>
      </p:sp>
      <p:sp>
        <p:nvSpPr>
          <p:cNvPr id="9" name="Text 7"/>
          <p:cNvSpPr/>
          <p:nvPr/>
        </p:nvSpPr>
        <p:spPr>
          <a:xfrm>
            <a:off x="4084168" y="2578608"/>
            <a:ext cx="40233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(8000)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backend/api.py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67248" y="3145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79"/>
                </a:solidFill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24448" y="3145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B79"/>
                </a:solidFill>
              </a:rPr>
              <a:t>sqlite3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18408" y="3511296"/>
            <a:ext cx="4754880" cy="566928"/>
          </a:xfrm>
          <a:prstGeom prst="roundRect">
            <a:avLst>
              <a:gd name="adj" fmla="val 11290"/>
            </a:avLst>
          </a:prstGeom>
          <a:solidFill>
            <a:srgbClr val="2E3A46"/>
          </a:solidFill>
          <a:ln/>
        </p:spPr>
      </p:sp>
      <p:sp>
        <p:nvSpPr>
          <p:cNvPr id="13" name="Text 11"/>
          <p:cNvSpPr/>
          <p:nvPr/>
        </p:nvSpPr>
        <p:spPr>
          <a:xfrm>
            <a:off x="3718408" y="3511296"/>
            <a:ext cx="4754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data/mineguard.db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· equipment_state · routes · simulation_kpi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9468" y="4114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9"/>
                </a:solidFill>
              </a:rPr>
              <a:t>↑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9468" y="457200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729588" y="4736592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996" y="4807001"/>
            <a:ext cx="362102" cy="36210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9468" y="5303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simulation/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79196" y="557784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OpenMines + Energy/Safety Layers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512668" y="4114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9"/>
                </a:solidFill>
              </a:rPr>
              <a:t>↑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512668" y="457200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472788" y="4736592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196" y="4807001"/>
            <a:ext cx="362102" cy="36210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512668" y="5303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cv_slope/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622396" y="557784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Canny-детекция трещин/оползней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255868" y="4114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9"/>
                </a:solidFill>
              </a:rPr>
              <a:t>↑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255868" y="457200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7215988" y="4736592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396" y="4807001"/>
            <a:ext cx="362102" cy="36210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55868" y="5303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cv_driver/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365596" y="557784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MediaPipe: усталость водителя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8999068" y="4114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9"/>
                </a:solidFill>
              </a:rPr>
              <a:t>↑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8999068" y="457200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9959188" y="4736592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9596" y="4807001"/>
            <a:ext cx="362102" cy="36210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999068" y="5303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agent/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9108796" y="557784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ReAct — AI-диспетчер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ДЛЯ СИМУЛЯЦИИ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Симуляция — физическая модель, а не рандом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2606040"/>
          </a:xfrm>
          <a:prstGeom prst="roundRect">
            <a:avLst>
              <a:gd name="adj" fmla="val 2963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331720" y="1993392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129" y="2063801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demo_mine.json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 карьера: экскаваторы, отвалы, зарядная станция, расстояния маршрутов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17520" y="29032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9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1828800"/>
            <a:ext cx="2468880" cy="2606040"/>
          </a:xfrm>
          <a:prstGeom prst="roundRect">
            <a:avLst>
              <a:gd name="adj" fmla="val 2963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02152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120640" y="1993392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049" y="2063801"/>
            <a:ext cx="362102" cy="3621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openmines_adapter.py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52044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Транслирует проектный конфиг в формат библиотеки OpenMines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806440" y="29032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9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126480" y="1828800"/>
            <a:ext cx="2468880" cy="2606040"/>
          </a:xfrm>
          <a:prstGeom prst="roundRect">
            <a:avLst>
              <a:gd name="adj" fmla="val 2963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291072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7909560" y="1993392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9969" y="2063801"/>
            <a:ext cx="362102" cy="3621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SimPy-движок (OpenMines)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30936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Дискретно-событийная симуляция, 120 тиков прогоняются синхронно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595360" y="29032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9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8915400" y="1828800"/>
            <a:ext cx="2468880" cy="2606040"/>
          </a:xfrm>
          <a:prstGeom prst="roundRect">
            <a:avLst>
              <a:gd name="adj" fmla="val 2963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079992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10698480" y="1993392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8889" y="2063801"/>
            <a:ext cx="362102" cy="36210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09828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equipment_state / simulation_kpi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909828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Позиции, топливо (EnergyLayer) и сближения (SafetyLayer) пишутся в БД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48640" y="4709160"/>
            <a:ext cx="11094415" cy="1600200"/>
          </a:xfrm>
          <a:prstGeom prst="roundRect">
            <a:avLst>
              <a:gd name="adj" fmla="val 4571"/>
            </a:avLst>
          </a:prstGeom>
          <a:solidFill>
            <a:srgbClr val="1C2530"/>
          </a:solidFill>
          <a:ln/>
        </p:spPr>
      </p:sp>
      <p:sp>
        <p:nvSpPr>
          <p:cNvPr id="32" name="Text 26"/>
          <p:cNvSpPr/>
          <p:nvPr/>
        </p:nvSpPr>
        <p:spPr>
          <a:xfrm>
            <a:off x="86868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энергослоя (EnergyLayer)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868680" y="53035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Гружёный ход: 2.8 л/км       Пустой ход: 1.7 л/км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Холостой ход: 12 л/ч       Топливо → энергия: ×9.7 кВт·ч/л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Прогноз столкновения: risk = 0.5·proximity + 0.3·fatigue + 0.2·Δскорость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КОМПЬЮТЕРНОЕ ЗРЕНИЕ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состояния водителя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1C253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E8A2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20427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Landmarker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 = (|p2-p6|+|p3-p5|) / (2·|p1-p4|)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раскрытие глаз (Eye Aspect Ratio)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 = |p_top−p_bottom| / |p_left−p_right|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раскрытие рта (Mouth Aspect Ratio, зевок)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4160520"/>
            <a:ext cx="4937760" cy="18288"/>
          </a:xfrm>
          <a:prstGeom prst="rect">
            <a:avLst/>
          </a:prstGeom>
          <a:solidFill>
            <a:srgbClr val="3A475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343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 ≥ 25%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C7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 времени с закрытыми глазами за скользящее окно → критическое событие driver_fatigue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8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/ yaw / pitch по iris-точкам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C7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кадров отвлечения подряд → событие driver_distraction (high)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5508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55080" y="228600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3F5F6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2286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Веб-камера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5080" y="306324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3F5F6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3063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Лицевые точки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55080" y="384048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3F5F6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EAR / MAR / PERCLOS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55080" y="461772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3F5F6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4617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Событие + риск техники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55080" y="5440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 (calibrate: true) сохраняет baseline EAR/yaw/pitch под конкретного водителя.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AI-АГЕНТ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Советует, а не решает: Decision Support 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05740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610" y="21342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диспетчера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«Почему TRUCK-04 стоит?»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65760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79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023360" y="182880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1C2530"/>
          </a:solidFill>
          <a:ln/>
        </p:spPr>
      </p:sp>
      <p:sp>
        <p:nvSpPr>
          <p:cNvPr id="11" name="Shape 8"/>
          <p:cNvSpPr/>
          <p:nvPr/>
        </p:nvSpPr>
        <p:spPr>
          <a:xfrm>
            <a:off x="5303520" y="2057400"/>
            <a:ext cx="548640" cy="548640"/>
          </a:xfrm>
          <a:prstGeom prst="ellipse">
            <a:avLst/>
          </a:prstGeom>
          <a:solidFill>
            <a:srgbClr val="E8A2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330" y="213421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(Qwen3.6-27B)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160520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ReAct-цикл, до 6 итераций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13232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79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7498080" y="182880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78240" y="205740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5050" y="213421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3524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инструменты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635240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get_equipment, get_events,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get_routes, run_what_if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02336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9"/>
                </a:solidFill>
              </a:rPr>
              <a:t>↺  цикл: результат инструмента возвращается модели, пока данных не хватит для ответа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420624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1C2530"/>
          </a:solidFill>
          <a:ln/>
        </p:spPr>
      </p:sp>
      <p:sp>
        <p:nvSpPr>
          <p:cNvPr id="23" name="Shape 18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E8A23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770" y="451165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3708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ответ = связный текст + proposed_actions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600200" y="47548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Опасные действия (блокировка маршрута, остановка техники, замена водителя) агент только формулирует как предложение. Исполнение — отдельный клик диспетчера «Применить» по явному API-эндпоинту.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AI-АГЕНТ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агент — три сценария диспетчера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257654"/>
            <a:ext cx="559613" cy="5596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54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Инцидент-триаж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935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/api/agent/chat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40690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«Почему TRUCK-04 стоит?» → агент читает события и технику, объясняет причину и предлагает действие.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148840"/>
            <a:ext cx="777240" cy="7772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254" y="2257654"/>
            <a:ext cx="559613" cy="5596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154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анализ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3440" y="35935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/api/agent/whatif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63440" y="40690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сам определяет параметры сценария из вопроса, запускает симуляцию и сравнивает с базовым прогоном.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38160" y="17830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58200" y="2148840"/>
            <a:ext cx="777240" cy="7772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014" y="2257654"/>
            <a:ext cx="559613" cy="55961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3154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за смену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458200" y="35935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/api/agent/shift_report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458200" y="40690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кнопка → структурированный отчёт: KPI, инциденты, маршруты, рекомендации на следующую смену.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ДЛЯ ЖЮРИ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выглядит на практике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120640" y="1691640"/>
            <a:ext cx="6492240" cy="685800"/>
          </a:xfrm>
          <a:prstGeom prst="roundRect">
            <a:avLst>
              <a:gd name="adj" fmla="val 13333"/>
            </a:avLst>
          </a:prstGeom>
          <a:solidFill>
            <a:srgbClr val="34424F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6916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«Почему TRUCK-04 стоит?»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78638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724912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9" y="2795321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679192"/>
            <a:ext cx="681228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TRUCK-04 остановлен системой: микросон водителя DRIVER-04 (PERCLOS 32%, событие EVT-B0CE95). Рядом заблокирован ROUTE-02 из-за трещины на SLOPE-NORTH-02. Рекомендую заменить водителя и не возобновлять движение до замены.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Предложенные действия: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4663440"/>
            <a:ext cx="2144268" cy="502920"/>
          </a:xfrm>
          <a:prstGeom prst="roundRect">
            <a:avLst>
              <a:gd name="adj" fmla="val 49091"/>
            </a:avLst>
          </a:prstGeom>
          <a:solidFill>
            <a:srgbClr val="E8A23B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4663440"/>
            <a:ext cx="2144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Применить: Остановить TRUCK-04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921508" y="4663440"/>
            <a:ext cx="2912364" cy="502920"/>
          </a:xfrm>
          <a:prstGeom prst="roundRect">
            <a:avLst>
              <a:gd name="adj" fmla="val 49091"/>
            </a:avLst>
          </a:prstGeom>
          <a:solidFill>
            <a:srgbClr val="E8A23B"/>
          </a:solidFill>
          <a:ln/>
        </p:spPr>
      </p:sp>
      <p:sp>
        <p:nvSpPr>
          <p:cNvPr id="14" name="Text 11"/>
          <p:cNvSpPr/>
          <p:nvPr/>
        </p:nvSpPr>
        <p:spPr>
          <a:xfrm>
            <a:off x="2921508" y="4663440"/>
            <a:ext cx="2912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Применить: Заменить водителя DRIVER-04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Опасное действие — предложено, не исполнено. Диспетчер решает сам.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20427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93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SQLite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96596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810" y="20427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993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Симуляция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2651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OpenMines · SimPy · NumPy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96596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570" y="20427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1993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Компьютерное зрение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6760" y="2651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MediaPipe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50" y="428305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233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4892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TypeScript · Tailwind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react-query · Konva · Recharts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0624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810" y="4283050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4233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AI-агент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4892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· Qwen3.6-27B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(farabi-inference)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3F5F6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20624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3570" y="4283050"/>
            <a:ext cx="395021" cy="3950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4233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66760" y="4892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О СТАТУСЕ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Знаем свои ограничения — и куда расти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3F5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CV (Canny) вместо обученной модели детекции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диалога агента — in-memory, без персистентности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Демо-конфигурация одной шахты (4 маршрута, 5 самосвалов)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Симуляция телеметрии, а не реальные датчики техники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1C2530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057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697480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D7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Обученная CV-модель (сегментация/детекция) на реальных данных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D7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Персистентная память диалогов и аудит предложений агента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D7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Мультиплощадочность: несколько карьеров в одном дашборде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D7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реальной телеметрии техники (IoT-датчики)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E3A4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2E3A46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554480"/>
            <a:ext cx="1005840" cy="1005840"/>
          </a:xfrm>
          <a:prstGeom prst="ellipse">
            <a:avLst/>
          </a:prstGeom>
          <a:solidFill>
            <a:srgbClr val="E8A2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745" y="1695298"/>
            <a:ext cx="724205" cy="724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889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MineGuard Twin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0651" y="3519055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924</Words>
  <Application>Microsoft Office PowerPoint</Application>
  <PresentationFormat>Широкоэкранный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MineGuard Twin — Цифровой двойник карьера с AI-диспетчером</dc:title>
  <dc:subject>PptxGenJS Presentation</dc:subject>
  <dc:creator>MineGuard Twin</dc:creator>
  <cp:lastModifiedBy>Пользователь</cp:lastModifiedBy>
  <cp:revision>3</cp:revision>
  <dcterms:created xsi:type="dcterms:W3CDTF">2026-07-09T05:38:23Z</dcterms:created>
  <dcterms:modified xsi:type="dcterms:W3CDTF">2026-07-09T05:50:52Z</dcterms:modified>
</cp:coreProperties>
</file>