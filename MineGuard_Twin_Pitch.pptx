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B73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2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Расход топлива, л/т</c:v>
                  </c:pt>
                  <c:pt idx="1">
                    <c:v>Простой, ч</c:v>
                  </c:pt>
                  <c:pt idx="2">
                    <c:v>Инциденты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6.2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2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Расход топлива, л/т</c:v>
                  </c:pt>
                  <c:pt idx="1">
                    <c:v>Простой, ч</c:v>
                  </c:pt>
                  <c:pt idx="2">
                    <c:v>Инциденты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1.05</c:v>
                </c:pt>
                <c:pt idx="1">
                  <c:v>3.1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F2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3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3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1005840"/>
            <a:ext cx="1463040" cy="-36576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05840"/>
            <a:ext cx="822960" cy="109728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005840"/>
            <a:ext cx="-731520" cy="137160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640080"/>
            <a:ext cx="-640080" cy="146304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103120"/>
            <a:ext cx="914400" cy="54864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2377440"/>
            <a:ext cx="2468880" cy="27432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0072" y="94183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576072"/>
            <a:ext cx="128016" cy="128016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3032" y="203911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Shape 9"/>
          <p:cNvSpPr/>
          <p:nvPr/>
        </p:nvSpPr>
        <p:spPr>
          <a:xfrm>
            <a:off x="8988552" y="2313432"/>
            <a:ext cx="128016" cy="128016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57432" y="2587752"/>
            <a:ext cx="128016" cy="1280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MINEGUARD TWIN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 карьера для безопасности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эффективности горнодобычи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AI-диспетчер · CV-мониторинг усталости водителя · CV-инспекция бортов · Симуляция логистики (OpenMines / SimPy)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329184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Astana AI Week · 2026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карьеры теряют деньги и жизни на трёх фронтах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C23B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Усталость водителей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Микросон и потеря концентрации за рулём 40–90-тонных самосвалов — одна из ведущих причин аварий на карьерах.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rgbClr val="B5650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Геологические риски бортов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Трещины, осыпи и оползни на уступах выявляются вручную и с задержкой, что повышает риск обрушения и блокировки дорог.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594360" cy="594360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Неэффективная логистика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Фиксированная диспетчеризация без учёта риска и загрузки увеличивает простои, расход топлива и время цикла.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аварийность, простой техники и перерасход топлива снижают безопасность и маржинальность добычи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MineGuard Twin: три интегрированных AI-модуля поверх одного цифрового двойника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MineOps Twin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Пошаговая симуляция движения самосвалов (OpenMines/SimPy), расчёт KPI: топливо, простои, выработка, оптимизация маршрутов.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B5650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Road CV Monitor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Компьютерное зрение выявляет трещины, осыпи и повреждения дорог на бортах карьера и инициирует блокировку/объезд маршрута.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rgbClr val="C23B3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Fatigue CV Monitor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Видеоаналитика в кабине (MediaPipe): EAR, MAR, PERCLOS и трекинг взгляда — обнаружение микросна, зевоты и отвлечения.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модуля пишут события в единый Event Center, который управляет риском техники и маршрутов в реальном времени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системы: SCADA-фронтенд, API и симуляционное ядро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3D6B85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74520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Next.js / React / TypeScript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7195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1767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3494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066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9793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365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092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2391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963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8690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3262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49890" y="187452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95610" y="187452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1E425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26080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· FastAPI (REST, CORS)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/simulation/*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7195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767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3494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066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/equipment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9793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365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/routes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6092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/recommendations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2391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963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/predictive_risks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8690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3262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/driver/*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49890" y="2926080"/>
            <a:ext cx="98983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95610" y="2926080"/>
            <a:ext cx="8983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/slope/*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397764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B5650E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3977640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И CV-ЯДРО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0896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 Adapter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/ Naive Dispatcher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360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Layer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6092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77824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2396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Safety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195560" y="3977640"/>
            <a:ext cx="1344168" cy="868680"/>
          </a:xfrm>
          <a:prstGeom prst="roundRect">
            <a:avLst>
              <a:gd name="adj" fmla="val 6316"/>
            </a:avLst>
          </a:prstGeom>
          <a:solidFill>
            <a:srgbClr val="EEF3F5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41280" y="3977640"/>
            <a:ext cx="1252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5029200"/>
            <a:ext cx="2331720" cy="685800"/>
          </a:xfrm>
          <a:prstGeom prst="roundRect">
            <a:avLst>
              <a:gd name="adj" fmla="val 9333"/>
            </a:avLst>
          </a:prstGeom>
          <a:solidFill>
            <a:srgbClr val="0F2A3D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" y="50292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· SQLite (events, equipment_state, routes, kpi)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709928" y="2743200"/>
            <a:ext cx="0" cy="18288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709928" y="3794760"/>
            <a:ext cx="0" cy="18288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709928" y="4846320"/>
            <a:ext cx="0" cy="18288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Полинг React Query каждые 500 мс синхронизирует SCADA-карту и панели с состоянием симуляции без лишних перерисовок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502920"/>
          </a:xfrm>
          <a:prstGeom prst="rect">
            <a:avLst/>
          </a:prstGeom>
          <a:solidFill>
            <a:srgbClr val="3D6B8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TypeScript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shadcn-style UI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 (polling 500 мс)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(состояние карты/сим.)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react-konva — интерактивная SCADA-карта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KPI-графики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920240"/>
            <a:ext cx="3520440" cy="502920"/>
          </a:xfrm>
          <a:prstGeom prst="rect">
            <a:avLst/>
          </a:prstGeom>
          <a:solidFill>
            <a:srgbClr val="B5650E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Симуляция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60604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REST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OpenMines / SimPy — симуляция логистики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события, техника, маршруты, KPI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/ Smart (Energy-Aware Safety) диспетчеры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Safety — прогноз столкновений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920240"/>
            <a:ext cx="3520440" cy="502920"/>
          </a:xfrm>
          <a:prstGeom prst="rect">
            <a:avLst/>
          </a:prstGeom>
          <a:solidFill>
            <a:srgbClr val="C23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920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606040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/ MAR / PERCLOS расчёт усталости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взгляда (yaw/pitch/iris)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CV-инспекция бортов и дорог (slope/road)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· DRIVER CV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детекции усталости: EAR, MAR, PERCLOS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219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= ( |p2–p6| + |p3–p5| ) / ( 2 · |p1–p4| 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p1..p6 — 6 ключевых точек контура глаза (MediaPipe). EAR резко падает при закрытии глаз.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558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Aspect Ratio (MAR)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= |p_top – p_bottom| / |p_left – p_right|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70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MAR &gt; 0.5 классифицируется как зевота (is_yawning).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371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 (скользящее окно 80 кадров)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84648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1846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PERCLOS = ( Σ closed_frames / 80 ) × 100%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7515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тревоги: PERCLOS ≥ 25% → критическое событие «водитель засыпает».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874520"/>
            <a:ext cx="47548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калибровка порогов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995160" y="2651760"/>
            <a:ext cx="448056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«глаза открыты»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926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≥ 0.82 × EAR_база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«глаза закрыты»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≤ 0.74 × EAR_база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3566160"/>
            <a:ext cx="448056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сглаживания 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кадров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PERCLOS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кадров (~8 с при 10 fps)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4480560"/>
            <a:ext cx="448056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4480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Отвлечение (рысканье)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9264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yaw_dev &gt; 1.25 или &lt; 0.80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Отвлечение (тангаж)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0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pitch_dev &gt; 1.30 или &lt; 0.75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95160" y="5394960"/>
            <a:ext cx="448056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кадров отвлечения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15 кадров подряд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· БЕЗОПАСНОСТЬ И ЭНЕРГИЯ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столкновений и модель расхода топлива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Collision Risk Score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06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0.5·P + 0.3·F + 0.2·S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558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близость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027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max(0, 1 − dist_прогноз / 8.0)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позиции через 5 с по вектору движения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41239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усталость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(fatigue₁ + fatigue₂) / 2 / 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90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PERCLOS двух водителей, нормированный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относительная скорость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min(1, |v₁ − v₂| / 50)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3583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скоростей самосвалов, км/ч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5733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Оповещение выводится при R, вычисленном для пары самосвалов с прогнозной дистанцией &lt; 8 условных единиц.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расхода топлива (Energy Layer)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512064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Гружёный рейс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d × 2.8 л/км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Порожний рейс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811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d × 1.7 л/км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3520440"/>
            <a:ext cx="5120640" cy="45720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/ погрузка / разгрузка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t × 12.0 л/час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 → энергия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8116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F × 9.7 кВт·ч/л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4636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риска техники (Safety Layer)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94690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C2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≥ 80 → critical</a:t>
            </a:r>
            <a:endParaRPr lang="en-US" sz="10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C2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≥ 50 и маршрут high/critical → critical</a:t>
            </a:r>
            <a:endParaRPr lang="en-US" sz="10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≥ 50 или маршрут high/critical → high</a:t>
            </a:r>
            <a:endParaRPr lang="en-US" sz="10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≥ 25 или маршрут medium → medium</a:t>
            </a:r>
            <a:endParaRPr lang="en-US" sz="102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2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→ low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СОБЫТИЙНЫЙ КОНТУР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детекции до решения диспетчера: сквозной поток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08022" cy="237744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0043" y="2633472"/>
            <a:ext cx="585216" cy="585216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6" name="Text 4"/>
          <p:cNvSpPr/>
          <p:nvPr/>
        </p:nvSpPr>
        <p:spPr>
          <a:xfrm>
            <a:off x="1260043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794760"/>
            <a:ext cx="16788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CV-модуль (усталость / борт) или симуляция фиксирует аномалию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574950" y="3566160"/>
            <a:ext cx="219456" cy="0"/>
          </a:xfrm>
          <a:prstGeom prst="line">
            <a:avLst/>
          </a:prstGeom>
          <a:noFill/>
          <a:ln w="22225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2694" y="2377440"/>
            <a:ext cx="2008022" cy="2377440"/>
          </a:xfrm>
          <a:prstGeom prst="roundRect">
            <a:avLst>
              <a:gd name="adj" fmla="val 4098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4098" y="2633472"/>
            <a:ext cx="585216" cy="585216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4098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9854" y="33832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7286" y="3794760"/>
            <a:ext cx="16788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/api/events создаёт запись с risk_level и risk_score в SQLite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839005" y="3566160"/>
            <a:ext cx="219456" cy="0"/>
          </a:xfrm>
          <a:prstGeom prst="line">
            <a:avLst/>
          </a:prstGeom>
          <a:noFill/>
          <a:ln w="22225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6749" y="2377440"/>
            <a:ext cx="2008022" cy="237744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2633472"/>
            <a:ext cx="585216" cy="585216"/>
          </a:xfrm>
          <a:prstGeom prst="ellipse">
            <a:avLst/>
          </a:prstGeom>
          <a:solidFill>
            <a:srgbClr val="B5650E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3909" y="33832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риска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41341" y="3794760"/>
            <a:ext cx="16788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техники/маршрута обновляется; критичные маршруты блокируются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103059" y="3566160"/>
            <a:ext cx="219456" cy="0"/>
          </a:xfrm>
          <a:prstGeom prst="line">
            <a:avLst/>
          </a:prstGeom>
          <a:noFill/>
          <a:ln w="22225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40803" y="2377440"/>
            <a:ext cx="2008022" cy="2377440"/>
          </a:xfrm>
          <a:prstGeom prst="roundRect">
            <a:avLst>
              <a:gd name="adj" fmla="val 4098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2206" y="2633472"/>
            <a:ext cx="585216" cy="585216"/>
          </a:xfrm>
          <a:prstGeom prst="ellipse">
            <a:avLst/>
          </a:prstGeom>
          <a:solidFill>
            <a:srgbClr val="C23B32"/>
          </a:solidFill>
          <a:ln/>
        </p:spPr>
      </p:sp>
      <p:sp>
        <p:nvSpPr>
          <p:cNvPr id="24" name="Text 22"/>
          <p:cNvSpPr/>
          <p:nvPr/>
        </p:nvSpPr>
        <p:spPr>
          <a:xfrm>
            <a:off x="8052206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77963" y="33832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05395" y="3794760"/>
            <a:ext cx="16788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формирует рекомендацию с ожидаемым эффектом (топливо, цикл, выработка)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367114" y="3566160"/>
            <a:ext cx="219456" cy="0"/>
          </a:xfrm>
          <a:prstGeom prst="line">
            <a:avLst/>
          </a:prstGeom>
          <a:noFill/>
          <a:ln w="22225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4858" y="2377440"/>
            <a:ext cx="2008022" cy="237744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6261" y="2633472"/>
            <a:ext cx="585216" cy="58521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6261" y="2633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42018" y="338328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оператора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69450" y="3794760"/>
            <a:ext cx="16788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видит алерт на SCADA-карте и принимает/подтверждает рекомендацию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API-эндпоинты симуляции и событий переиспользованы «как есть» — фронтенд опрашивает их через React Query каждые 500 мс.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SCADA-карта карьера (react-konva)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0F2A3D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3025833"/>
            <a:ext cx="675861" cy="1122218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99221" y="3025833"/>
            <a:ext cx="2027583" cy="1122218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9917" y="3025833"/>
            <a:ext cx="3379304" cy="1683327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09569" y="2464724"/>
            <a:ext cx="1013791" cy="1683327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9569" y="2464724"/>
            <a:ext cx="3717235" cy="1683327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9917" y="2464724"/>
            <a:ext cx="1689652" cy="2244436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4148051"/>
            <a:ext cx="337930" cy="1402773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290" y="4148051"/>
            <a:ext cx="2365513" cy="1402773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9917" y="4709160"/>
            <a:ext cx="3041374" cy="841664"/>
          </a:xfrm>
          <a:prstGeom prst="line">
            <a:avLst/>
          </a:prstGeom>
          <a:noFill/>
          <a:ln w="38100">
            <a:solidFill>
              <a:srgbClr val="2750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77056" y="4001747"/>
            <a:ext cx="292608" cy="292608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40017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4330931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Site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62061" y="2888673"/>
            <a:ext cx="274320" cy="2743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061" y="28886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50581" y="26417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Shovel-01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72409" y="2327564"/>
            <a:ext cx="274320" cy="2743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2872409" y="23275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0929" y="20806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Shovel-02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24130" y="5413664"/>
            <a:ext cx="274320" cy="2743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4224130" y="541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2650" y="51667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Shovel-03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9643" y="4010891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9643" y="40108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8163" y="376400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Dump-01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82757" y="4572000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1182757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1277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Dump-02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02264" y="3495502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61576" y="2822171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8814" y="3832167"/>
            <a:ext cx="182880" cy="18288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80198" y="4393276"/>
            <a:ext cx="182880" cy="182880"/>
          </a:xfrm>
          <a:prstGeom prst="ellipse">
            <a:avLst/>
          </a:prstGeom>
          <a:solidFill>
            <a:srgbClr val="C23B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Легенда: ● заряд/погрузка/разгрузка · ▮ самосвал (цвет = уровень риска) · линии = дорожная сеть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724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карты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72400" y="23774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Панорамирование и зум колесом мыши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Плавное LERP-движение и разворот самосвалов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техники + перекрестие цели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с телеметрией при наведении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Пульсация риска (medium/high/critical)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Пунктирные линии прогнозного риска столкновения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через requestAnimationFrame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проблемы решает MineGuard Twin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C23B3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выявление микросна и отвлечения водителя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блокировка опасных маршрутов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опасного сближения самосвалов до инцидента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30552"/>
            <a:ext cx="502920" cy="502920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788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простоев за счёт умной диспетчеризации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маршрутов с учётом очередей и риска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расхода топлива на тонну руды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130552"/>
            <a:ext cx="502920" cy="502920"/>
          </a:xfrm>
          <a:prstGeom prst="ellipse">
            <a:avLst/>
          </a:prstGeom>
          <a:solidFill>
            <a:srgbClr val="B5650E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0" y="2167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Управляемость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Event Center вместо разрозненных логов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Правиловый Rule Engine с рекомендациями и эффектом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сценарии без риска для реальной операции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Демонстрационный прогон: Baseline (NaiveDispatcher) vs Optimized (SmartDispatcher)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4983480"/>
          <a:ext cx="74980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229600" y="498348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0" y="51206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иллюстративны — из демо-прогона симулятора (120 тиков), приведены для сравнения архитектурного эффекта, не являются полевыми промышленными данными.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развития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на одном карьере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реальными телеметрическими датчиками и камерами вместо симуляции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3703320"/>
            <a:ext cx="237744" cy="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210312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Предиктивное ТО техники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ML-модели износа и отказов на основе телеметрии и истории событий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3703320"/>
            <a:ext cx="237744" cy="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Мультикарьерный масштаб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SCADA-панель для нескольких участков и сравнение диспетчеров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96528" y="3703320"/>
            <a:ext cx="237744" cy="0"/>
          </a:xfrm>
          <a:prstGeom prst="line">
            <a:avLst/>
          </a:prstGeom>
          <a:noFill/>
          <a:ln w="19050">
            <a:solidFill>
              <a:srgbClr val="5B73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103120"/>
            <a:ext cx="2560320" cy="3200400"/>
          </a:xfrm>
          <a:prstGeom prst="roundRect">
            <a:avLst>
              <a:gd name="adj" fmla="val 3214"/>
            </a:avLst>
          </a:prstGeom>
          <a:solidFill>
            <a:srgbClr val="F4F7F9"/>
          </a:solidFill>
          <a:ln w="9525">
            <a:solidFill>
              <a:srgbClr val="D7E1E6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D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8116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уведомления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8116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Push-алерты диспетчерам и водителям, интеграция с промышленными шлюзами (MQTT/OPC-UA)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1005840"/>
            <a:ext cx="1463040" cy="-36576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05840"/>
            <a:ext cx="822960" cy="109728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005840"/>
            <a:ext cx="-731520" cy="137160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0" y="640080"/>
            <a:ext cx="-640080" cy="146304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103120"/>
            <a:ext cx="914400" cy="54864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2377440"/>
            <a:ext cx="2468880" cy="274320"/>
          </a:xfrm>
          <a:prstGeom prst="line">
            <a:avLst/>
          </a:prstGeom>
          <a:noFill/>
          <a:ln w="19050">
            <a:solidFill>
              <a:srgbClr val="D7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9216" y="950976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Shape 7"/>
          <p:cNvSpPr/>
          <p:nvPr/>
        </p:nvSpPr>
        <p:spPr>
          <a:xfrm>
            <a:off x="11192256" y="585216"/>
            <a:ext cx="109728" cy="109728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76" y="2048256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Shape 9"/>
          <p:cNvSpPr/>
          <p:nvPr/>
        </p:nvSpPr>
        <p:spPr>
          <a:xfrm>
            <a:off x="8997696" y="2322576"/>
            <a:ext cx="109728" cy="109728"/>
          </a:xfrm>
          <a:prstGeom prst="ellipse">
            <a:avLst/>
          </a:prstGeom>
          <a:solidFill>
            <a:srgbClr val="3D6B8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66576" y="2596896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MineGuard Twin — цифровой двойник карьера, который видит риски раньше, чем они становятся инцидентом.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329184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AI Week 2026 · Команда MineGuard Twin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MineGuard Twin — AI Digital Twin for Open-Pit Mine Safety</dc:title>
  <dc:subject>PptxGenJS Presentation</dc:subject>
  <dc:creator>MineGuard Twin</dc:creator>
  <cp:lastModifiedBy>MineGuard Twin</cp:lastModifiedBy>
  <cp:revision>1</cp:revision>
  <dcterms:created xsi:type="dcterms:W3CDTF">2026-07-08T20:22:28Z</dcterms:created>
  <dcterms:modified xsi:type="dcterms:W3CDTF">2026-07-08T20:22:28Z</dcterms:modified>
</cp:coreProperties>
</file>